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1.xml" ContentType="application/vnd.openxmlformats-officedocument.drawingml.chart+xml"/>
  <Override PartName="/ppt/drawings/drawing1.xml" ContentType="application/vnd.openxmlformats-officedocument.drawingml.chartshapes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9" r:id="rId4"/>
    <p:sldId id="258" r:id="rId5"/>
    <p:sldId id="260" r:id="rId6"/>
    <p:sldId id="261" r:id="rId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3" d="100"/>
          <a:sy n="123" d="100"/>
        </p:scale>
        <p:origin x="298" y="9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2" Type="http://schemas.openxmlformats.org/officeDocument/2006/relationships/chartUserShapes" Target="../drawings/drawing1.xml"/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ln w="50800" cap="flat">
              <a:solidFill>
                <a:srgbClr val="0052A3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052A3"/>
              </a:solidFill>
              <a:ln w="9525" cap="flat">
                <a:solidFill>
                  <a:srgbClr val="0052A3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0052A3"/>
                    </a:solidFill>
                    <a:latin typeface="Arial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10%</c:v>
                </c:pt>
                <c:pt idx="1">
                  <c:v>25%</c:v>
                </c:pt>
                <c:pt idx="2">
                  <c:v>50%</c:v>
                </c:pt>
                <c:pt idx="3">
                  <c:v>75%</c:v>
                </c:pt>
                <c:pt idx="4">
                  <c:v>100%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91.9</c:v>
                </c:pt>
                <c:pt idx="1">
                  <c:v>94.4</c:v>
                </c:pt>
                <c:pt idx="2">
                  <c:v>95.7</c:v>
                </c:pt>
                <c:pt idx="3">
                  <c:v>96.8</c:v>
                </c:pt>
                <c:pt idx="4">
                  <c:v>97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9F30-47D0-BC3F-163F155A7EF0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646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98"/>
          <c:min val="90"/>
        </c:scaling>
        <c:delete val="0"/>
        <c:axPos val="l"/>
        <c:majorGridlines>
          <c:spPr>
            <a:ln w="6350" cap="flat">
              <a:solidFill>
                <a:srgbClr val="D0D0D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646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25400"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  <c:userShapes r:id="rId2"/>
</c:chartSpace>
</file>

<file path=ppt/drawings/_rels/drawing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png"/></Relationships>
</file>

<file path=ppt/drawings/drawing1.xml><?xml version="1.0" encoding="utf-8"?>
<c:userShapes xmlns:c="http://schemas.openxmlformats.org/drawingml/2006/chart">
  <cdr:relSizeAnchor xmlns:cdr="http://schemas.openxmlformats.org/drawingml/2006/chartDrawing">
    <cdr:from>
      <cdr:x>0</cdr:x>
      <cdr:y>0</cdr:y>
    </cdr:from>
    <cdr:to>
      <cdr:x>1</cdr:x>
      <cdr:y>1</cdr:y>
    </cdr:to>
    <cdr:pic>
      <cdr:nvPicPr>
        <cdr:cNvPr id="2" name="Picture 1">
          <a:extLst xmlns:a="http://schemas.openxmlformats.org/drawingml/2006/main">
            <a:ext uri="{FF2B5EF4-FFF2-40B4-BE49-F238E27FC236}">
              <a16:creationId xmlns:a16="http://schemas.microsoft.com/office/drawing/2014/main" id="{434C9011-F82A-D5D2-BE88-4329F1A4ECBB}"/>
            </a:ext>
          </a:extLst>
        </cdr:cNvPr>
        <cdr:cNvPicPr>
          <a:picLocks xmlns:a="http://schemas.openxmlformats.org/drawingml/2006/main" noChangeAspect="1"/>
        </cdr:cNvPicPr>
      </cdr:nvPicPr>
      <cdr:blipFill>
        <a:blip xmlns:a="http://schemas.openxmlformats.org/drawingml/2006/main" xmlns:r="http://schemas.openxmlformats.org/officeDocument/2006/relationships" r:embed="rId1"/>
        <a:stretch xmlns:a="http://schemas.openxmlformats.org/drawingml/2006/main">
          <a:fillRect/>
        </a:stretch>
      </cdr:blipFill>
      <cdr:spPr>
        <a:xfrm xmlns:a="http://schemas.openxmlformats.org/drawingml/2006/main">
          <a:off x="50800" y="50800"/>
          <a:ext cx="4572000" cy="2857500"/>
        </a:xfrm>
        <a:prstGeom xmlns:a="http://schemas.openxmlformats.org/drawingml/2006/main" prst="rect">
          <a:avLst/>
        </a:prstGeom>
      </cdr:spPr>
    </cdr:pic>
  </cdr:relSizeAnchor>
  <cdr:relSizeAnchor xmlns:cdr="http://schemas.openxmlformats.org/drawingml/2006/chartDrawing">
    <cdr:from>
      <cdr:x>0</cdr:x>
      <cdr:y>0</cdr:y>
    </cdr:from>
    <cdr:to>
      <cdr:x>1</cdr:x>
      <cdr:y>1</cdr:y>
    </cdr:to>
    <cdr:pic>
      <cdr:nvPicPr>
        <cdr:cNvPr id="3" name="Picture 2">
          <a:extLst xmlns:a="http://schemas.openxmlformats.org/drawingml/2006/main">
            <a:ext uri="{FF2B5EF4-FFF2-40B4-BE49-F238E27FC236}">
              <a16:creationId xmlns:a16="http://schemas.microsoft.com/office/drawing/2014/main" id="{0CB27C16-124C-3712-3AA5-7BEB82E72F28}"/>
            </a:ext>
          </a:extLst>
        </cdr:cNvPr>
        <cdr:cNvPicPr>
          <a:picLocks xmlns:a="http://schemas.openxmlformats.org/drawingml/2006/main" noChangeAspect="1"/>
        </cdr:cNvPicPr>
      </cdr:nvPicPr>
      <cdr:blipFill>
        <a:blip xmlns:a="http://schemas.openxmlformats.org/drawingml/2006/main" xmlns:r="http://schemas.openxmlformats.org/officeDocument/2006/relationships" r:embed="rId1"/>
        <a:stretch xmlns:a="http://schemas.openxmlformats.org/drawingml/2006/main">
          <a:fillRect/>
        </a:stretch>
      </cdr:blipFill>
      <cdr:spPr>
        <a:xfrm xmlns:a="http://schemas.openxmlformats.org/drawingml/2006/main">
          <a:off x="50800" y="50800"/>
          <a:ext cx="4572000" cy="2857500"/>
        </a:xfrm>
        <a:prstGeom xmlns:a="http://schemas.openxmlformats.org/drawingml/2006/main" prst="rect">
          <a:avLst/>
        </a:prstGeom>
      </cdr:spPr>
    </cdr:pic>
  </cdr:relSizeAnchor>
</c:userShape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61168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eb-production-cb99b.up.railway.app/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8E8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1371600"/>
            <a:ext cx="2743200" cy="2743200"/>
          </a:xfrm>
          <a:prstGeom prst="ellipse">
            <a:avLst/>
          </a:prstGeom>
          <a:solidFill>
            <a:srgbClr val="0052A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772400" y="1371600"/>
            <a:ext cx="2743200" cy="2743200"/>
          </a:xfrm>
          <a:prstGeom prst="ellipse">
            <a:avLst/>
          </a:prstGeom>
          <a:solidFill>
            <a:srgbClr val="0052A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214503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52A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AUTOMATED PRODUCE FRESHNESS</a:t>
            </a:r>
            <a:r>
              <a:rPr lang="en-US" sz="2600" b="1" dirty="0">
                <a:solidFill>
                  <a:srgbClr val="0052A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CLASSIFICATION</a:t>
            </a:r>
            <a:endParaRPr lang="en-US" sz="2600" b="1" dirty="0"/>
          </a:p>
        </p:txBody>
      </p:sp>
      <p:sp>
        <p:nvSpPr>
          <p:cNvPr id="6" name="Text 4"/>
          <p:cNvSpPr/>
          <p:nvPr/>
        </p:nvSpPr>
        <p:spPr>
          <a:xfrm>
            <a:off x="457200" y="3200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Deep Learning to Reduce Food Waste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Duke University | AIPI 590 | Spring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8E8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937760" cy="5143500"/>
          </a:xfrm>
          <a:prstGeom prst="rect">
            <a:avLst/>
          </a:prstGeom>
          <a:solidFill>
            <a:srgbClr val="0052A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731520"/>
            <a:ext cx="4023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48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PROBLEM &amp;</a:t>
            </a:r>
            <a:endParaRPr lang="en-US" sz="4000" dirty="0"/>
          </a:p>
          <a:p>
            <a:pPr marL="0" indent="0">
              <a:lnSpc>
                <a:spcPts val="48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MOTIVATION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303520" y="73152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52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Challenge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303520" y="1280160"/>
            <a:ext cx="33832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⅓ of food produced globally is wasted annually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inspection is subjective and inconsistent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inspectors vary by fatigue and lighting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Need: Automated, objective, scalable solution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303520" y="292608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52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Goal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5303520" y="3474720"/>
            <a:ext cx="3383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classification: Fresh vs. Rotten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produce types with single unified model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Production-grade accuracy (&gt;95%)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E8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4206240" y="0"/>
            <a:ext cx="4937760" cy="5143500"/>
          </a:xfrm>
          <a:prstGeom prst="rect">
            <a:avLst/>
          </a:prstGeom>
          <a:solidFill>
            <a:srgbClr val="0052A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029200" y="731520"/>
            <a:ext cx="3657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48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DATASET &amp;</a:t>
            </a:r>
            <a:endParaRPr lang="en-US" sz="4000" dirty="0"/>
          </a:p>
          <a:p>
            <a:pPr marL="0" indent="0">
              <a:lnSpc>
                <a:spcPts val="48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TRAINING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31520" y="73152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52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Dataset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731520" y="1280160"/>
            <a:ext cx="32004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71,318 total images across 13 produce types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66.4% Fresh, 33.6% Rotten (2:1 imbalance)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70/15/15 stratified train/val/test split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Images: 224×224, ImageNet normalized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2926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52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Strategy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731520" y="3474720"/>
            <a:ext cx="3200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1: Head-only training (5 epochs)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2: Full fine-tuning (up to 15 epochs)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sampling + weighted loss for imbalance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augmentation: flips, rotation, color jitter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8E8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486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0052A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OUR APPROACH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731520" y="1371600"/>
            <a:ext cx="2560320" cy="292608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508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2560320" cy="182880"/>
          </a:xfrm>
          <a:prstGeom prst="rect">
            <a:avLst/>
          </a:prstGeom>
          <a:solidFill>
            <a:srgbClr val="8080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31520" y="173736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Majority Class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Classifier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301752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80808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66.4%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731520" y="347472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6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566160" y="1371600"/>
            <a:ext cx="2560320" cy="292608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508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566160" y="1371600"/>
            <a:ext cx="2560320" cy="182880"/>
          </a:xfrm>
          <a:prstGeom prst="rect">
            <a:avLst/>
          </a:prstGeom>
          <a:solidFill>
            <a:srgbClr val="2C5F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566160" y="173736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Classical ML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566160" y="219456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ResNet-18 Features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Random Forest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66160" y="301752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C5F2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90.8%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3566160" y="347472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6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0" y="1371600"/>
            <a:ext cx="2560320" cy="292608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508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6400800" y="1371600"/>
            <a:ext cx="2560320" cy="182880"/>
          </a:xfrm>
          <a:prstGeom prst="rect">
            <a:avLst/>
          </a:prstGeom>
          <a:solidFill>
            <a:srgbClr val="0052A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400800" y="173736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 Learning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400800" y="219456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EfficientNet-B0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Fine-tuned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0" y="301752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0052A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97.2%</a:t>
            </a:r>
            <a:endParaRPr lang="en-US" sz="3400" dirty="0"/>
          </a:p>
        </p:txBody>
      </p:sp>
      <p:sp>
        <p:nvSpPr>
          <p:cNvPr id="20" name="Text 18"/>
          <p:cNvSpPr/>
          <p:nvPr/>
        </p:nvSpPr>
        <p:spPr>
          <a:xfrm>
            <a:off x="6400800" y="347472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6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6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71,318 images | 13 produce types | 2-phase transfer learning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8E8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937760" cy="5143500"/>
          </a:xfrm>
          <a:prstGeom prst="rect">
            <a:avLst/>
          </a:prstGeom>
          <a:solidFill>
            <a:srgbClr val="0052A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402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RESULTS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4023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97.2%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457200" y="1847088"/>
            <a:ext cx="4023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4023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0.997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457200" y="2578608"/>
            <a:ext cx="4023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AUC-ROC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2926080"/>
            <a:ext cx="4023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1.5%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457200" y="3310128"/>
            <a:ext cx="4023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Negative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657600"/>
            <a:ext cx="4023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21MB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457200" y="4041648"/>
            <a:ext cx="4023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Size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303520" y="64008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52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Data Efficiency</a:t>
            </a:r>
            <a:endParaRPr lang="en-US" sz="2200" dirty="0"/>
          </a:p>
        </p:txBody>
      </p:sp>
      <p:graphicFrame>
        <p:nvGraphicFramePr>
          <p:cNvPr id="14" name="Chart 0"/>
          <p:cNvGraphicFramePr/>
          <p:nvPr>
            <p:extLst>
              <p:ext uri="{D42A27DB-BD31-4B8C-83A1-F6EECF244321}">
                <p14:modId xmlns:p14="http://schemas.microsoft.com/office/powerpoint/2010/main" val="1448247688"/>
              </p:ext>
            </p:extLst>
          </p:nvPr>
        </p:nvGraphicFramePr>
        <p:xfrm>
          <a:off x="5303520" y="1188720"/>
          <a:ext cx="3383280" cy="2194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5" name="Text 12"/>
          <p:cNvSpPr/>
          <p:nvPr/>
        </p:nvSpPr>
        <p:spPr>
          <a:xfrm>
            <a:off x="5303520" y="3657600"/>
            <a:ext cx="3383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learning highly effective (91.9% with 10% data)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Conservative bias ideal for food safety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Production-ready edge deployment (5.3M params)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8E8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1371600"/>
            <a:ext cx="2743200" cy="2743200"/>
          </a:xfrm>
          <a:prstGeom prst="ellipse">
            <a:avLst/>
          </a:prstGeom>
          <a:solidFill>
            <a:srgbClr val="0052A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772400" y="1371600"/>
            <a:ext cx="2743200" cy="2743200"/>
          </a:xfrm>
          <a:prstGeom prst="ellipse">
            <a:avLst/>
          </a:prstGeom>
          <a:solidFill>
            <a:srgbClr val="0052A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18288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600" b="1" dirty="0">
                <a:solidFill>
                  <a:srgbClr val="0052A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LIVE DEMO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457200" y="2743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i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Freshness Classification in Action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39319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3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C7AE678-D4A4-C048-CE07-29A8A8010318}"/>
              </a:ext>
            </a:extLst>
          </p:cNvPr>
          <p:cNvSpPr txBox="1"/>
          <p:nvPr/>
        </p:nvSpPr>
        <p:spPr>
          <a:xfrm>
            <a:off x="2438400" y="3297288"/>
            <a:ext cx="594671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Fresh or Rotten - AI Produce Classifier</a:t>
            </a: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185</TotalTime>
  <Words>244</Words>
  <Application>Microsoft Office PowerPoint</Application>
  <PresentationFormat>On-screen Show (16:9)</PresentationFormat>
  <Paragraphs>65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Arial Black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Produce Freshness Classification</dc:title>
  <dc:subject>PptxGenJS Presentation</dc:subject>
  <dc:creator>Duke AIPI 590 Team</dc:creator>
  <cp:lastModifiedBy>Danny Ross</cp:lastModifiedBy>
  <cp:revision>4</cp:revision>
  <dcterms:created xsi:type="dcterms:W3CDTF">2026-02-10T00:44:08Z</dcterms:created>
  <dcterms:modified xsi:type="dcterms:W3CDTF">2026-02-10T03:50:43Z</dcterms:modified>
</cp:coreProperties>
</file>