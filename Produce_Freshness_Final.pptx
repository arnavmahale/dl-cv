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298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50800" cap="flat">
              <a:solidFill>
                <a:srgbClr val="0052A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52A3"/>
              </a:solidFill>
              <a:ln w="9525" cap="flat">
                <a:solidFill>
                  <a:srgbClr val="0052A3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52A3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10%</c:v>
                </c:pt>
                <c:pt idx="1">
                  <c:v>25%</c:v>
                </c:pt>
                <c:pt idx="2">
                  <c:v>50%</c:v>
                </c:pt>
                <c:pt idx="3">
                  <c:v>75%</c:v>
                </c:pt>
                <c:pt idx="4">
                  <c:v>100%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91.9</c:v>
                </c:pt>
                <c:pt idx="1">
                  <c:v>94.4</c:v>
                </c:pt>
                <c:pt idx="2">
                  <c:v>95.7</c:v>
                </c:pt>
                <c:pt idx="3">
                  <c:v>96.8</c:v>
                </c:pt>
                <c:pt idx="4">
                  <c:v>97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F30-47D0-BC3F-163F155A7EF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64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8"/>
          <c:min val="90"/>
        </c:scaling>
        <c:delete val="0"/>
        <c:axPos val="l"/>
        <c:majorGridlines>
          <c:spPr>
            <a:ln w="6350" cap="flat">
              <a:solidFill>
                <a:srgbClr val="D0D0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64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  <c:userShapes r:id="rId2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2" name="Picture 1">
          <a:extLst xmlns:a="http://schemas.openxmlformats.org/drawingml/2006/main">
            <a:ext uri="{FF2B5EF4-FFF2-40B4-BE49-F238E27FC236}">
              <a16:creationId xmlns:a16="http://schemas.microsoft.com/office/drawing/2014/main" id="{434C9011-F82A-D5D2-BE88-4329F1A4ECBB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50800" y="50800"/>
          <a:ext cx="4572000" cy="2857500"/>
        </a:xfrm>
        <a:prstGeom xmlns:a="http://schemas.openxmlformats.org/drawingml/2006/main" prst="rect">
          <a:avLst/>
        </a:prstGeom>
      </cdr:spPr>
    </cdr:pic>
  </cdr:relSizeAnchor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3" name="Picture 2">
          <a:extLst xmlns:a="http://schemas.openxmlformats.org/drawingml/2006/main">
            <a:ext uri="{FF2B5EF4-FFF2-40B4-BE49-F238E27FC236}">
              <a16:creationId xmlns:a16="http://schemas.microsoft.com/office/drawing/2014/main" id="{0CB27C16-124C-3712-3AA5-7BEB82E72F28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50800" y="50800"/>
          <a:ext cx="4572000" cy="2857500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116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1371600"/>
            <a:ext cx="2743200" cy="2743200"/>
          </a:xfrm>
          <a:prstGeom prst="ellipse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1371600"/>
            <a:ext cx="2743200" cy="2743200"/>
          </a:xfrm>
          <a:prstGeom prst="ellipse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14503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AUTOMATED PRODUCE FRESHNESS</a:t>
            </a:r>
            <a:r>
              <a:rPr lang="en-US" sz="2400" b="1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CLASSIFICATION</a:t>
            </a:r>
            <a:endParaRPr lang="en-US" sz="2400" b="1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Deep Learning to Reduce Food Waste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Duke University | AIPI 590 |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&amp;</a:t>
            </a:r>
            <a:endParaRPr lang="en-US" sz="40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MOTIVATION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0" y="7315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303520" y="128016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⅓ of food produced globally is wasted annually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is subjective and inconsistent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inspectors vary by fatigue and lighting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Need: Automated, objective, scalable solution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0" y="2926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Goal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303520" y="34747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classification: Fresh vs. Rotten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produce types with single unified model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accuracy (&gt;95%)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APPROACH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508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560320" cy="182880"/>
          </a:xfrm>
          <a:prstGeom prst="rect">
            <a:avLst/>
          </a:prstGeom>
          <a:solidFill>
            <a:srgbClr val="808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Class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8080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66.4%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508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66160" y="1371600"/>
            <a:ext cx="2560320" cy="18288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ML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ResNet-18 Features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Random Forest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90.8%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508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0" y="1371600"/>
            <a:ext cx="2560320" cy="182880"/>
          </a:xfrm>
          <a:prstGeom prst="rect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97.2%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40080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71,318 images | 13 produce types | 2-phase transfer learning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206240" y="0"/>
            <a:ext cx="4937760" cy="5143500"/>
          </a:xfrm>
          <a:prstGeom prst="rect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0" y="731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 &amp;</a:t>
            </a:r>
            <a:endParaRPr lang="en-US" sz="40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731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128016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71,318 total images across 13 produce types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66.4% Fresh, 33.6% Rotten (2:1 imbalance)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70/15/15 stratified train/val/test split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Images: 224×224, ImageNet normalized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Strategy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Head-only training (5 epochs)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Full fine-tuning (up to 15 epochs)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sampling + weighted loss for imbalance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augmentation: flips, rotation, color jitter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97.2%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8470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1.5%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33101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6576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21MB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404164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03520" y="640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 Efficiency</a:t>
            </a:r>
            <a:endParaRPr lang="en-US" sz="2200" dirty="0"/>
          </a:p>
        </p:txBody>
      </p:sp>
      <p:graphicFrame>
        <p:nvGraphicFramePr>
          <p:cNvPr id="14" name="Chart 0"/>
          <p:cNvGraphicFramePr/>
          <p:nvPr>
            <p:extLst>
              <p:ext uri="{D42A27DB-BD31-4B8C-83A1-F6EECF244321}">
                <p14:modId xmlns:p14="http://schemas.microsoft.com/office/powerpoint/2010/main" val="1448247688"/>
              </p:ext>
            </p:extLst>
          </p:nvPr>
        </p:nvGraphicFramePr>
        <p:xfrm>
          <a:off x="5303520" y="1188720"/>
          <a:ext cx="338328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Text 12"/>
          <p:cNvSpPr/>
          <p:nvPr/>
        </p:nvSpPr>
        <p:spPr>
          <a:xfrm>
            <a:off x="5303520" y="36576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highly effective (91.9% with 10% data)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bias ideal for food safety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edge deployment (5.3M params)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1371600"/>
            <a:ext cx="2743200" cy="2743200"/>
          </a:xfrm>
          <a:prstGeom prst="ellipse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1371600"/>
            <a:ext cx="2743200" cy="2743200"/>
          </a:xfrm>
          <a:prstGeom prst="ellipse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Classification in Action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[Switch to notebook for interactive demo]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245</Words>
  <Application>Microsoft Office PowerPoint</Application>
  <PresentationFormat>On-screen Show (16:9)</PresentationFormat>
  <Paragraphs>65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Produce Freshness Classification</dc:title>
  <dc:subject>PptxGenJS Presentation</dc:subject>
  <dc:creator>Duke AIPI 590 Team</dc:creator>
  <cp:lastModifiedBy>Danny Ross</cp:lastModifiedBy>
  <cp:revision>2</cp:revision>
  <dcterms:created xsi:type="dcterms:W3CDTF">2026-02-10T00:44:08Z</dcterms:created>
  <dcterms:modified xsi:type="dcterms:W3CDTF">2026-02-10T00:54:49Z</dcterms:modified>
</cp:coreProperties>
</file>